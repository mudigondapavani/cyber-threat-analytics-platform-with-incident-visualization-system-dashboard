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977A-CD61-C195-1009-23FEC405F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600B9-E6DA-12A6-AF10-01AA6E7BD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86213-D9E0-736C-E80C-BD0453EA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F3E28-9D17-B9F0-15A3-A98DBC97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E2E5E-5804-99BA-4EA5-2E912B25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972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E38E-5235-F626-4B88-60AC9C29F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B2308-B103-568B-239D-84B9CBD13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95042-4DCE-52C1-86E3-E70B4B22A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2D3FE-3110-C228-C53D-0AC4F1BF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685AF-227C-A145-9442-3F1B02342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959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B26D-95B2-D573-EA5F-17507826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88A18-2BE3-8473-D1CB-4056E48E5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8E996-39B2-6A51-F02C-F227DAF1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92B32-1538-1201-1077-0BDA9314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3365F-21F9-11F4-9E3B-64007824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619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776A0-CDF6-6303-4B43-99BC981D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FEA17-D004-30D9-BEAD-E5DC74FF1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514BD-9976-215C-154D-E1D346673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8101A-49FA-0864-562D-D69BB653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15579-E74E-4215-3B0E-347D27E32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7DB04-B549-145C-2D4F-101B265B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35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E3DD-93BD-E73F-ED54-722193C49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83F19-F83A-8491-4F76-8656AF82D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7CEFC-A96D-6F97-55A9-4EBC430F5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1C34FB-FC6E-0062-E6AA-D93DD2349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249AA-55F7-B636-5D28-32F322258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4CF77-D7A6-AB06-EA8E-3DB13EF0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79091-7FC3-AD71-6C98-CB75A7711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5ADBE-AC5F-F3A7-BBC5-D3EFC664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39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DAEC-2E62-8FC2-80B5-3BE06516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2F3AE9-EA21-A413-3BAC-A07DDE24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7E5A7-BE5A-C898-0A81-61D907E5E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0C112-D2FE-3DDC-9609-0F4174C3A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96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02A51C-4CF3-C84B-E69B-1D6B8FFD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71C23-D1AE-2EDD-933C-C62B16BC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D40C2-DB0B-1C6A-982C-147DF256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08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EDEC-721D-62E1-6081-3C11C995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8D9F2-3F71-8E4A-5432-02E729F04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885C6-EBE6-76E6-E14D-5482A9546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23B17-3FE7-9900-FDC5-D119DE16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62A6C-909C-7DC8-6573-827552774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A5551-E708-254F-7401-8C7ED6E2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08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0BB0-C057-82D1-ACB9-DC46E9A6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4CE08C-C56A-536C-5CF5-F135484C4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E3EBD-1803-69EA-B270-C3B6456ED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51E05-FFA7-1FDB-932A-66F1DF9EE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C5D27-898D-90FF-2693-29DED000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ADDE4-37B6-302B-7B91-3B24D6ED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86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1858-0AB1-166A-F05C-717D9D51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474BB-7D82-BFA8-B228-2BFE2DBEC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1C665-4893-3396-FF5F-23BC9E735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34BA5-1996-9DA2-3767-E8DE9CB1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D90AF-5078-3BFC-D96B-4E3982DC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88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469F5B-2935-BD8D-0EFD-39234AD1D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A1C50-AB89-A73F-E80C-27D0771F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9EB02-4FCA-4997-4529-464BD939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6E66D-55D5-2D55-2A5E-CE5BFB366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60658-234F-AB77-FFA9-2AA8FAF8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26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E5A642-3C35-68ED-9CE0-96D299C0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A0E21-E3C9-FF1D-B0D4-48814BA5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CEF73-2B5E-3A2E-A6E7-36B19111B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3ED8A-933F-412A-BACA-EF86B782F29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F9F6-4112-75B0-A842-070B1098F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7FCD4-3F11-C435-F3D1-9B8C1D06C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77B4C-F878-49DC-9D01-FE40A1616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72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3C950-F11E-A768-1AA6-858AEB429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689" y="3071183"/>
            <a:ext cx="9910296" cy="2590027"/>
          </a:xfrm>
        </p:spPr>
        <p:txBody>
          <a:bodyPr anchor="t">
            <a:normAutofit/>
          </a:bodyPr>
          <a:lstStyle/>
          <a:p>
            <a:pPr algn="l"/>
            <a:r>
              <a:rPr lang="en-IN" sz="5600" b="1"/>
              <a:t>Cyber Threat Analytics Platform</a:t>
            </a:r>
            <a:br>
              <a:rPr lang="en-IN" sz="5600" b="1"/>
            </a:br>
            <a:r>
              <a:rPr lang="en-IN" sz="5600" b="1"/>
              <a:t>with Incident Visualization System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35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AB33354-5302-409E-90BF-4E7A98AFB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F8617-4490-65ED-9CE4-7C723CF9C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165014"/>
            <a:ext cx="3796306" cy="4666206"/>
          </a:xfrm>
        </p:spPr>
        <p:txBody>
          <a:bodyPr anchor="ctr">
            <a:normAutofit/>
          </a:bodyPr>
          <a:lstStyle/>
          <a:p>
            <a:r>
              <a:rPr lang="en-IN" sz="4800" b="1"/>
              <a:t>Project Overview</a:t>
            </a:r>
            <a:br>
              <a:rPr lang="en-IN" sz="4800" b="1"/>
            </a:br>
            <a:endParaRPr lang="en-IN" sz="4800" b="1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4B502-38B0-D6AF-DD91-06E2D84E8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0" y="1165014"/>
            <a:ext cx="5625253" cy="4666206"/>
          </a:xfrm>
        </p:spPr>
        <p:txBody>
          <a:bodyPr anchor="ctr">
            <a:normAutofit/>
          </a:bodyPr>
          <a:lstStyle/>
          <a:p>
            <a:pPr lvl="0"/>
            <a:r>
              <a:rPr lang="en-IN" sz="2000"/>
              <a:t>Analyzes cybersecurity incidents using Power BI. </a:t>
            </a:r>
          </a:p>
          <a:p>
            <a:pPr lvl="0"/>
            <a:r>
              <a:rPr lang="en-IN" sz="2000"/>
              <a:t>Classifies threats and analyzes their severity. </a:t>
            </a:r>
          </a:p>
          <a:p>
            <a:pPr lvl="0"/>
            <a:r>
              <a:rPr lang="en-IN" sz="2000"/>
              <a:t>Studies geographical and temporal incident patterns. </a:t>
            </a:r>
          </a:p>
          <a:p>
            <a:pPr lvl="0"/>
            <a:r>
              <a:rPr lang="en-IN" sz="2000"/>
              <a:t>Evaluates incident response and resolution performance. </a:t>
            </a:r>
          </a:p>
          <a:p>
            <a:pPr lvl="0"/>
            <a:r>
              <a:rPr lang="en-IN" sz="2000"/>
              <a:t>Assesses security risks and operational vulnerabilities. </a:t>
            </a:r>
          </a:p>
          <a:p>
            <a:pPr lvl="0"/>
            <a:r>
              <a:rPr lang="en-IN" sz="2000"/>
              <a:t>Provides predictive and executive-level security insights.</a:t>
            </a:r>
          </a:p>
          <a:p>
            <a:pPr marL="0" indent="0">
              <a:buNone/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534082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B33354-5302-409E-90BF-4E7A98AFB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AF1F7-5354-4460-C097-C735C8224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165014"/>
            <a:ext cx="3796306" cy="4666206"/>
          </a:xfrm>
        </p:spPr>
        <p:txBody>
          <a:bodyPr anchor="ctr">
            <a:normAutofit/>
          </a:bodyPr>
          <a:lstStyle/>
          <a:p>
            <a:r>
              <a:rPr lang="en-IN" sz="4800" b="1"/>
              <a:t>Data &amp; Technologies</a:t>
            </a:r>
            <a:br>
              <a:rPr lang="en-IN" sz="4800" b="1"/>
            </a:br>
            <a:endParaRPr lang="en-IN" sz="4800" b="1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463EF-E311-57BE-AADD-45D8E6F3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0" y="1165014"/>
            <a:ext cx="5625253" cy="466620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b="1" dirty="0"/>
              <a:t>Datasets</a:t>
            </a:r>
            <a:endParaRPr lang="en-IN" sz="2000" dirty="0"/>
          </a:p>
          <a:p>
            <a:pPr lvl="0"/>
            <a:r>
              <a:rPr lang="en-IN" sz="2000" dirty="0"/>
              <a:t>Security Incidents </a:t>
            </a:r>
          </a:p>
          <a:p>
            <a:pPr lvl="0"/>
            <a:r>
              <a:rPr lang="en-IN" sz="2000" dirty="0"/>
              <a:t>Incident Response </a:t>
            </a:r>
          </a:p>
          <a:p>
            <a:pPr lvl="0"/>
            <a:r>
              <a:rPr lang="en-IN" sz="2000" dirty="0"/>
              <a:t>Asset Inventory </a:t>
            </a:r>
          </a:p>
          <a:p>
            <a:pPr lvl="0"/>
            <a:r>
              <a:rPr lang="en-IN" sz="2000" dirty="0"/>
              <a:t>Location and Date information </a:t>
            </a:r>
          </a:p>
          <a:p>
            <a:pPr lvl="0"/>
            <a:r>
              <a:rPr lang="en-IN" sz="2000" dirty="0"/>
              <a:t>Environmental/Context data where required </a:t>
            </a:r>
          </a:p>
          <a:p>
            <a:pPr marL="0" indent="0">
              <a:buNone/>
            </a:pPr>
            <a:r>
              <a:rPr lang="en-IN" sz="2000" b="1" dirty="0"/>
              <a:t>Tools</a:t>
            </a:r>
            <a:endParaRPr lang="en-IN" sz="2000" dirty="0"/>
          </a:p>
          <a:p>
            <a:pPr lvl="0"/>
            <a:r>
              <a:rPr lang="en-IN" sz="2000" dirty="0"/>
              <a:t>Microsoft Power BI </a:t>
            </a:r>
          </a:p>
          <a:p>
            <a:pPr lvl="0"/>
            <a:r>
              <a:rPr lang="en-IN" sz="2000" dirty="0"/>
              <a:t>Power Query </a:t>
            </a:r>
          </a:p>
          <a:p>
            <a:pPr lvl="0"/>
            <a:r>
              <a:rPr lang="en-IN" sz="2000" dirty="0"/>
              <a:t>DAX </a:t>
            </a:r>
          </a:p>
          <a:p>
            <a:pPr lvl="0"/>
            <a:r>
              <a:rPr lang="en-IN" sz="2000" dirty="0"/>
              <a:t>Microsoft Excel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23812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B33354-5302-409E-90BF-4E7A98AFB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28457-7947-E87D-19A8-1C72A971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165014"/>
            <a:ext cx="3796306" cy="4666206"/>
          </a:xfrm>
        </p:spPr>
        <p:txBody>
          <a:bodyPr anchor="ctr">
            <a:normAutofit/>
          </a:bodyPr>
          <a:lstStyle/>
          <a:p>
            <a:r>
              <a:rPr lang="en-IN" sz="4800" b="1" dirty="0"/>
              <a:t>Project Methodology</a:t>
            </a:r>
            <a:br>
              <a:rPr lang="en-IN" sz="4800" b="1" dirty="0"/>
            </a:br>
            <a:endParaRPr lang="en-IN" sz="4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EDEF3-14CB-9251-3C12-35F72E29A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0" y="1165014"/>
            <a:ext cx="5625253" cy="466620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410DF8-EE57-FB6B-8B37-3C736CF2DF48}"/>
              </a:ext>
            </a:extLst>
          </p:cNvPr>
          <p:cNvSpPr/>
          <p:nvPr/>
        </p:nvSpPr>
        <p:spPr>
          <a:xfrm>
            <a:off x="7465336" y="1679787"/>
            <a:ext cx="1842039" cy="320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Collection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1E755E-3002-22E0-58DD-64DC8A70A95B}"/>
              </a:ext>
            </a:extLst>
          </p:cNvPr>
          <p:cNvSpPr/>
          <p:nvPr/>
        </p:nvSpPr>
        <p:spPr>
          <a:xfrm>
            <a:off x="6568440" y="2256972"/>
            <a:ext cx="3631475" cy="3306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Data Cleaning &amp; Transformation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FAE3A3-D25B-D58A-6866-2069E40B6C47}"/>
              </a:ext>
            </a:extLst>
          </p:cNvPr>
          <p:cNvSpPr/>
          <p:nvPr/>
        </p:nvSpPr>
        <p:spPr>
          <a:xfrm>
            <a:off x="7282548" y="2787314"/>
            <a:ext cx="2288264" cy="330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Data </a:t>
            </a:r>
            <a:r>
              <a:rPr lang="en-IN" b="1" dirty="0" err="1"/>
              <a:t>Modeling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2C4191-EBF4-5F90-78E5-0C94E1511940}"/>
              </a:ext>
            </a:extLst>
          </p:cNvPr>
          <p:cNvSpPr/>
          <p:nvPr/>
        </p:nvSpPr>
        <p:spPr>
          <a:xfrm>
            <a:off x="7233473" y="3338286"/>
            <a:ext cx="2394944" cy="3306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DAX Measures &amp; KPIs</a:t>
            </a:r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08DD15-8130-BF11-E7CA-0B6B74A72260}"/>
              </a:ext>
            </a:extLst>
          </p:cNvPr>
          <p:cNvSpPr/>
          <p:nvPr/>
        </p:nvSpPr>
        <p:spPr>
          <a:xfrm>
            <a:off x="6914565" y="3846574"/>
            <a:ext cx="3032760" cy="3628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Dashboard Development</a:t>
            </a:r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83912DE-74AB-E40B-ED87-2B186B9F1367}"/>
              </a:ext>
            </a:extLst>
          </p:cNvPr>
          <p:cNvSpPr/>
          <p:nvPr/>
        </p:nvSpPr>
        <p:spPr>
          <a:xfrm>
            <a:off x="6930450" y="4403982"/>
            <a:ext cx="3032760" cy="3306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Risk &amp; Predictive Analysis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34FF5D-9895-2883-9BEB-78A308437931}"/>
              </a:ext>
            </a:extLst>
          </p:cNvPr>
          <p:cNvSpPr/>
          <p:nvPr/>
        </p:nvSpPr>
        <p:spPr>
          <a:xfrm>
            <a:off x="6930450" y="4987215"/>
            <a:ext cx="2913102" cy="364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Executive Decision Support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6118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09F52-AFB5-86F6-A7B1-4BEF15CDE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2300" b="1"/>
              <a:t>Milestone 1 – Threat Classification &amp; Severity Analytics</a:t>
            </a:r>
            <a:br>
              <a:rPr lang="en-IN" sz="2300" b="1"/>
            </a:br>
            <a:endParaRPr lang="en-IN" sz="2300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B8650-C5B3-07AB-C2B1-39C5F389B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lvl="0"/>
            <a:r>
              <a:rPr lang="en-IN" sz="1500" dirty="0" err="1"/>
              <a:t>Analyzed</a:t>
            </a:r>
            <a:r>
              <a:rPr lang="en-IN" sz="1500" dirty="0"/>
              <a:t> cybersecurity incidents by </a:t>
            </a:r>
            <a:r>
              <a:rPr lang="en-IN" sz="1500" b="1" dirty="0"/>
              <a:t>threat category</a:t>
            </a:r>
            <a:r>
              <a:rPr lang="en-IN" sz="1500" dirty="0"/>
              <a:t>. </a:t>
            </a:r>
          </a:p>
          <a:p>
            <a:pPr lvl="0"/>
            <a:r>
              <a:rPr lang="en-IN" sz="1500" dirty="0"/>
              <a:t>Studied </a:t>
            </a:r>
            <a:r>
              <a:rPr lang="en-IN" sz="1500" b="1" dirty="0"/>
              <a:t>severity levels</a:t>
            </a:r>
            <a:r>
              <a:rPr lang="en-IN" sz="1500" dirty="0"/>
              <a:t> of incidents. </a:t>
            </a:r>
          </a:p>
          <a:p>
            <a:pPr lvl="0"/>
            <a:r>
              <a:rPr lang="en-IN" sz="1500" dirty="0"/>
              <a:t>Created important </a:t>
            </a:r>
            <a:r>
              <a:rPr lang="en-IN" sz="1500" b="1" dirty="0"/>
              <a:t>KPI cards</a:t>
            </a:r>
            <a:r>
              <a:rPr lang="en-IN" sz="1500" dirty="0"/>
              <a:t>. </a:t>
            </a:r>
          </a:p>
          <a:p>
            <a:pPr lvl="0"/>
            <a:r>
              <a:rPr lang="en-IN" sz="1500" dirty="0" err="1"/>
              <a:t>Analyzed</a:t>
            </a:r>
            <a:r>
              <a:rPr lang="en-IN" sz="1500" dirty="0"/>
              <a:t> incident trends and geographical distribution. </a:t>
            </a:r>
          </a:p>
          <a:p>
            <a:pPr lvl="0"/>
            <a:r>
              <a:rPr lang="en-IN" sz="1500" dirty="0" err="1"/>
              <a:t>Analyzed</a:t>
            </a:r>
            <a:r>
              <a:rPr lang="en-IN" sz="1500" dirty="0"/>
              <a:t> response indicators. </a:t>
            </a:r>
          </a:p>
          <a:p>
            <a:pPr lvl="0"/>
            <a:r>
              <a:rPr lang="en-IN" sz="1500" dirty="0"/>
              <a:t>Added interactive slicers for detailed analysis. </a:t>
            </a:r>
          </a:p>
          <a:p>
            <a:r>
              <a:rPr lang="en-IN" sz="1500" b="1" dirty="0"/>
              <a:t>Key Focus</a:t>
            </a:r>
          </a:p>
          <a:p>
            <a:r>
              <a:rPr lang="en-IN" sz="1500" b="1" dirty="0"/>
              <a:t>Threat → Severity → Response → Location</a:t>
            </a:r>
            <a:endParaRPr lang="en-IN" sz="1500" dirty="0"/>
          </a:p>
          <a:p>
            <a:endParaRPr lang="en-IN" sz="15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3A536E-6988-36AF-3E2F-AF7D4F6C9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743755"/>
            <a:ext cx="5628018" cy="313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79EFF-76FB-0D91-BE15-0774EEB7F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600" b="1"/>
              <a:t>Milestone 2 – Geospatial Intelligence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107A6-6D5E-6292-1608-CBE7EC0A8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279757"/>
            <a:ext cx="4282984" cy="3263287"/>
          </a:xfrm>
        </p:spPr>
        <p:txBody>
          <a:bodyPr anchor="ctr">
            <a:normAutofit/>
          </a:bodyPr>
          <a:lstStyle/>
          <a:p>
            <a:pPr lvl="0"/>
            <a:r>
              <a:rPr lang="en-IN" sz="1500" dirty="0" err="1"/>
              <a:t>Analyzed</a:t>
            </a:r>
            <a:r>
              <a:rPr lang="en-IN" sz="1500" dirty="0"/>
              <a:t> incidents geographically. </a:t>
            </a:r>
          </a:p>
          <a:p>
            <a:pPr lvl="0"/>
            <a:r>
              <a:rPr lang="en-IN" sz="1500" dirty="0"/>
              <a:t>Used </a:t>
            </a:r>
            <a:r>
              <a:rPr lang="en-IN" sz="1500" b="1" dirty="0"/>
              <a:t>Bubble Map</a:t>
            </a:r>
            <a:r>
              <a:rPr lang="en-IN" sz="1500" dirty="0"/>
              <a:t> and </a:t>
            </a:r>
            <a:r>
              <a:rPr lang="en-IN" sz="1500" b="1" dirty="0"/>
              <a:t>Filled Map</a:t>
            </a:r>
            <a:r>
              <a:rPr lang="en-IN" sz="1500" dirty="0"/>
              <a:t>. </a:t>
            </a:r>
          </a:p>
          <a:p>
            <a:pPr lvl="0"/>
            <a:r>
              <a:rPr lang="en-IN" sz="1500" dirty="0"/>
              <a:t>Identified </a:t>
            </a:r>
            <a:r>
              <a:rPr lang="en-IN" sz="1500" b="1" dirty="0"/>
              <a:t>Top Risk Cities</a:t>
            </a:r>
            <a:r>
              <a:rPr lang="en-IN" sz="1500" dirty="0"/>
              <a:t>. </a:t>
            </a:r>
          </a:p>
          <a:p>
            <a:pPr lvl="0"/>
            <a:r>
              <a:rPr lang="en-IN" sz="1500" dirty="0"/>
              <a:t>Compared response time across locations. </a:t>
            </a:r>
          </a:p>
          <a:p>
            <a:pPr lvl="0"/>
            <a:r>
              <a:rPr lang="en-IN" sz="1500" dirty="0"/>
              <a:t>Studied threat concentration. </a:t>
            </a:r>
          </a:p>
          <a:p>
            <a:pPr lvl="0"/>
            <a:r>
              <a:rPr lang="en-IN" sz="1500" dirty="0"/>
              <a:t>Added drill-through and tooltips. </a:t>
            </a:r>
          </a:p>
          <a:p>
            <a:pPr lvl="0"/>
            <a:r>
              <a:rPr lang="en-IN" sz="1500" dirty="0"/>
              <a:t>Used interactive location, severity and category filters. </a:t>
            </a:r>
          </a:p>
          <a:p>
            <a:r>
              <a:rPr lang="en-IN" sz="1500" b="1" dirty="0"/>
              <a:t>Key Focus</a:t>
            </a:r>
          </a:p>
          <a:p>
            <a:r>
              <a:rPr lang="en-IN" sz="1500" b="1" dirty="0"/>
              <a:t>Where are the threats concentrated?</a:t>
            </a:r>
            <a:endParaRPr lang="en-IN" sz="1500" dirty="0"/>
          </a:p>
          <a:p>
            <a:endParaRPr lang="en-IN" sz="17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4924F-D032-45FA-5826-797F613CA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916" y="427116"/>
            <a:ext cx="5628018" cy="3207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451FA4-9A0D-0095-B132-4DD2E84F4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947" y="3848519"/>
            <a:ext cx="3028424" cy="19895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BD2639-9B41-6A59-15EC-9176A0DF8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834" y="3790940"/>
            <a:ext cx="2559351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1DC5A442-E2D0-4F6D-894C-999AF89A7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D5339-92DC-A133-CDD4-91415BFD7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46" y="349664"/>
            <a:ext cx="5845571" cy="1638377"/>
          </a:xfrm>
        </p:spPr>
        <p:txBody>
          <a:bodyPr anchor="b">
            <a:normAutofit/>
          </a:bodyPr>
          <a:lstStyle/>
          <a:p>
            <a:r>
              <a:rPr lang="en-IN" sz="3700" b="1"/>
              <a:t>Milestone 3 – Temporal &amp; Incident Response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3EDB-9BC0-8BD5-44AD-2E1CF1562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88" y="2620641"/>
            <a:ext cx="5837750" cy="3023702"/>
          </a:xfrm>
        </p:spPr>
        <p:txBody>
          <a:bodyPr anchor="ctr">
            <a:normAutofit/>
          </a:bodyPr>
          <a:lstStyle/>
          <a:p>
            <a:pPr lvl="0"/>
            <a:r>
              <a:rPr lang="en-IN" sz="1500" dirty="0" err="1"/>
              <a:t>Analyzed</a:t>
            </a:r>
            <a:r>
              <a:rPr lang="en-IN" sz="1500" dirty="0"/>
              <a:t> incidents across different time periods. </a:t>
            </a:r>
          </a:p>
          <a:p>
            <a:pPr lvl="0"/>
            <a:r>
              <a:rPr lang="en-IN" sz="1500" dirty="0"/>
              <a:t>Studied hourly, daily, weekly and monthly trends. </a:t>
            </a:r>
          </a:p>
          <a:p>
            <a:pPr lvl="0"/>
            <a:r>
              <a:rPr lang="en-IN" sz="1500" dirty="0"/>
              <a:t>Identified seasonal patterns and incident spikes. </a:t>
            </a:r>
          </a:p>
          <a:p>
            <a:pPr lvl="0"/>
            <a:r>
              <a:rPr lang="en-IN" sz="1500" dirty="0" err="1"/>
              <a:t>Analyzed</a:t>
            </a:r>
            <a:r>
              <a:rPr lang="en-IN" sz="1500" dirty="0"/>
              <a:t> emerging threat patterns. </a:t>
            </a:r>
          </a:p>
          <a:p>
            <a:pPr lvl="0"/>
            <a:r>
              <a:rPr lang="en-IN" sz="1500" dirty="0"/>
              <a:t>Studied environmental/context factors. </a:t>
            </a:r>
          </a:p>
          <a:p>
            <a:pPr lvl="0"/>
            <a:r>
              <a:rPr lang="en-IN" sz="1500" dirty="0"/>
              <a:t>Compared response and resolution performance. </a:t>
            </a:r>
          </a:p>
          <a:p>
            <a:pPr lvl="0"/>
            <a:r>
              <a:rPr lang="en-IN" sz="1500" dirty="0" err="1"/>
              <a:t>Analyzed</a:t>
            </a:r>
            <a:r>
              <a:rPr lang="en-IN" sz="1500" dirty="0"/>
              <a:t> Open vs Closed incidents. </a:t>
            </a:r>
          </a:p>
          <a:p>
            <a:r>
              <a:rPr lang="en-IN" sz="1500" b="1" dirty="0"/>
              <a:t>Key Focus</a:t>
            </a:r>
          </a:p>
          <a:p>
            <a:r>
              <a:rPr lang="en-IN" sz="1500" b="1" dirty="0"/>
              <a:t>When do incidents occur and how effectively are they handled?</a:t>
            </a:r>
            <a:endParaRPr lang="en-IN" sz="1500" dirty="0"/>
          </a:p>
          <a:p>
            <a:endParaRPr lang="en-IN" sz="15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99675"/>
            <a:ext cx="4647368" cy="2779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C6143-275B-CA52-96A2-B932EFD50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373" y="603618"/>
            <a:ext cx="4235516" cy="2371889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BB19363-8354-4E75-A15C-A08F75517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429000"/>
            <a:ext cx="4647368" cy="2779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0BF841-3662-C8CC-9F90-1B4A82635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374" y="3638238"/>
            <a:ext cx="4235516" cy="2361299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774185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45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0FA2F6-0B54-37BC-B0C8-B617185F7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600" b="1"/>
              <a:t>Milestone 4 – Security Risk Assessment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F8F22-3CA1-4A30-57EE-A2122685D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252325"/>
            <a:ext cx="4282984" cy="3290719"/>
          </a:xfrm>
        </p:spPr>
        <p:txBody>
          <a:bodyPr anchor="ctr">
            <a:normAutofit lnSpcReduction="10000"/>
          </a:bodyPr>
          <a:lstStyle/>
          <a:p>
            <a:pPr lvl="0"/>
            <a:r>
              <a:rPr lang="en-IN" sz="1500" dirty="0"/>
              <a:t>Measured </a:t>
            </a:r>
            <a:r>
              <a:rPr lang="en-IN" sz="1500" b="1" dirty="0"/>
              <a:t>Threat Exposure</a:t>
            </a:r>
            <a:r>
              <a:rPr lang="en-IN" sz="1500" dirty="0"/>
              <a:t>. </a:t>
            </a:r>
          </a:p>
          <a:p>
            <a:pPr lvl="0"/>
            <a:r>
              <a:rPr lang="en-IN" sz="1500" dirty="0" err="1"/>
              <a:t>Analyzed</a:t>
            </a:r>
            <a:r>
              <a:rPr lang="en-IN" sz="1500" dirty="0"/>
              <a:t> </a:t>
            </a:r>
            <a:r>
              <a:rPr lang="en-IN" sz="1500" b="1" dirty="0"/>
              <a:t>Operational Vulnerability</a:t>
            </a:r>
            <a:r>
              <a:rPr lang="en-IN" sz="1500" dirty="0"/>
              <a:t>. </a:t>
            </a:r>
          </a:p>
          <a:p>
            <a:pPr lvl="0"/>
            <a:r>
              <a:rPr lang="en-IN" sz="1500" dirty="0"/>
              <a:t>Compared risk across locations and operational units. </a:t>
            </a:r>
          </a:p>
          <a:p>
            <a:pPr lvl="0"/>
            <a:r>
              <a:rPr lang="en-IN" sz="1500" dirty="0"/>
              <a:t>Identified </a:t>
            </a:r>
            <a:r>
              <a:rPr lang="en-IN" sz="1500" b="1" dirty="0"/>
              <a:t>Resource Allocation Gaps</a:t>
            </a:r>
            <a:r>
              <a:rPr lang="en-IN" sz="1500" dirty="0"/>
              <a:t>. </a:t>
            </a:r>
          </a:p>
          <a:p>
            <a:pPr lvl="0"/>
            <a:r>
              <a:rPr lang="en-IN" sz="1500" dirty="0"/>
              <a:t>Identified security weaknesses. </a:t>
            </a:r>
          </a:p>
          <a:p>
            <a:pPr lvl="0"/>
            <a:r>
              <a:rPr lang="en-IN" sz="1500" dirty="0" err="1"/>
              <a:t>Analyzed</a:t>
            </a:r>
            <a:r>
              <a:rPr lang="en-IN" sz="1500" dirty="0"/>
              <a:t> patch status. </a:t>
            </a:r>
          </a:p>
          <a:p>
            <a:pPr lvl="0"/>
            <a:r>
              <a:rPr lang="en-IN" sz="1500" dirty="0" err="1"/>
              <a:t>Analyzed</a:t>
            </a:r>
            <a:r>
              <a:rPr lang="en-IN" sz="1500" dirty="0"/>
              <a:t> response resource pressure. </a:t>
            </a:r>
          </a:p>
          <a:p>
            <a:pPr lvl="0"/>
            <a:r>
              <a:rPr lang="en-IN" sz="1500" dirty="0"/>
              <a:t>Generated a </a:t>
            </a:r>
            <a:r>
              <a:rPr lang="en-IN" sz="1500" b="1" dirty="0"/>
              <a:t>Security Risk Scorecard</a:t>
            </a:r>
            <a:r>
              <a:rPr lang="en-IN" sz="1500" dirty="0"/>
              <a:t>. </a:t>
            </a:r>
          </a:p>
          <a:p>
            <a:r>
              <a:rPr lang="en-IN" sz="1500" b="1" dirty="0"/>
              <a:t>Key Focus</a:t>
            </a:r>
          </a:p>
          <a:p>
            <a:r>
              <a:rPr lang="en-IN" sz="1500" b="1" dirty="0"/>
              <a:t>What is the current security risk?</a:t>
            </a:r>
            <a:endParaRPr lang="en-IN" sz="1500" dirty="0"/>
          </a:p>
          <a:p>
            <a:endParaRPr lang="en-IN" sz="15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DC764-37AE-DCBD-9046-8BCCD56DE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729685"/>
            <a:ext cx="5628018" cy="316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61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B286B-8784-B205-48EC-463A053FB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600" b="1"/>
              <a:t>Predictive Intelligence &amp; Executive Analytics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DF3BB-1DE1-A682-95D0-53AE29A37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500" b="1" dirty="0"/>
              <a:t>Predictive Intelligence</a:t>
            </a:r>
          </a:p>
          <a:p>
            <a:pPr lvl="0"/>
            <a:r>
              <a:rPr lang="en-IN" sz="1500" dirty="0"/>
              <a:t>Overall Predicted Risk </a:t>
            </a:r>
          </a:p>
          <a:p>
            <a:pPr lvl="0"/>
            <a:r>
              <a:rPr lang="en-IN" sz="1500" dirty="0"/>
              <a:t>Incident Risk Probability </a:t>
            </a:r>
          </a:p>
          <a:p>
            <a:pPr lvl="0"/>
            <a:r>
              <a:rPr lang="en-IN" sz="1500" dirty="0"/>
              <a:t>Predicted Risk by Threat Category </a:t>
            </a:r>
          </a:p>
          <a:p>
            <a:pPr lvl="0"/>
            <a:r>
              <a:rPr lang="en-IN" sz="1500" dirty="0"/>
              <a:t>Predicted Risk Trend </a:t>
            </a:r>
          </a:p>
          <a:p>
            <a:pPr lvl="0"/>
            <a:r>
              <a:rPr lang="en-IN" sz="1500" dirty="0"/>
              <a:t>Potential High-Risk Zones </a:t>
            </a:r>
          </a:p>
          <a:p>
            <a:pPr lvl="0"/>
            <a:r>
              <a:rPr lang="en-IN" sz="1500" dirty="0"/>
              <a:t>Risk Probability by Threat Category </a:t>
            </a:r>
          </a:p>
          <a:p>
            <a:pPr lvl="0"/>
            <a:r>
              <a:rPr lang="en-IN" sz="1500" dirty="0"/>
              <a:t>Risk Probability by Risk Level</a:t>
            </a:r>
          </a:p>
          <a:p>
            <a:pPr marL="0" indent="0">
              <a:buNone/>
            </a:pPr>
            <a:endParaRPr lang="en-IN" sz="15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140D4A-6F31-4E5D-847D-900246D5C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757825"/>
            <a:ext cx="5628018" cy="310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67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D0E2C-A7F9-B6C7-BF25-0654502C9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500" b="1" dirty="0"/>
              <a:t>Executive Analytics</a:t>
            </a:r>
          </a:p>
          <a:p>
            <a:pPr lvl="0"/>
            <a:r>
              <a:rPr lang="en-IN" sz="1500" dirty="0"/>
              <a:t>Overall Risk Score </a:t>
            </a:r>
          </a:p>
          <a:p>
            <a:pPr lvl="0"/>
            <a:r>
              <a:rPr lang="en-IN" sz="1500" dirty="0"/>
              <a:t>Critical Risk Indicators </a:t>
            </a:r>
          </a:p>
          <a:p>
            <a:pPr lvl="0"/>
            <a:r>
              <a:rPr lang="en-IN" sz="1500" dirty="0"/>
              <a:t>Predicted Risk </a:t>
            </a:r>
          </a:p>
          <a:p>
            <a:pPr lvl="0"/>
            <a:r>
              <a:rPr lang="en-IN" sz="1500" dirty="0"/>
              <a:t>Resource Allocation </a:t>
            </a:r>
          </a:p>
          <a:p>
            <a:pPr lvl="0"/>
            <a:r>
              <a:rPr lang="en-IN" sz="1500" dirty="0"/>
              <a:t>Average Response Time </a:t>
            </a:r>
          </a:p>
          <a:p>
            <a:pPr lvl="0"/>
            <a:r>
              <a:rPr lang="en-IN" sz="1500" dirty="0"/>
              <a:t>High-Risk Locations </a:t>
            </a:r>
          </a:p>
          <a:p>
            <a:pPr lvl="0"/>
            <a:r>
              <a:rPr lang="en-IN" sz="1500" dirty="0"/>
              <a:t>Emerging Risk Areas </a:t>
            </a:r>
          </a:p>
          <a:p>
            <a:pPr lvl="0"/>
            <a:r>
              <a:rPr lang="en-IN" sz="1500" dirty="0"/>
              <a:t>Operational Risk Indicators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E7F42-57A1-19B5-6294-081734FA1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743755"/>
            <a:ext cx="5628018" cy="313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33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B33354-5302-409E-90BF-4E7A98AFB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947DD-902B-089E-0EDC-8354B7901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165014"/>
            <a:ext cx="3796306" cy="4666206"/>
          </a:xfrm>
        </p:spPr>
        <p:txBody>
          <a:bodyPr anchor="ctr">
            <a:normAutofit/>
          </a:bodyPr>
          <a:lstStyle/>
          <a:p>
            <a:r>
              <a:rPr lang="en-IN" sz="4800" b="1"/>
              <a:t>Key Outcomes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C056-0BC0-BE8B-E346-CF81CA5ED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0" y="1165014"/>
            <a:ext cx="5625253" cy="4666206"/>
          </a:xfrm>
        </p:spPr>
        <p:txBody>
          <a:bodyPr anchor="ctr">
            <a:normAutofit/>
          </a:bodyPr>
          <a:lstStyle/>
          <a:p>
            <a:pPr lvl="0"/>
            <a:r>
              <a:rPr lang="en-IN" sz="2000" dirty="0"/>
              <a:t>Identified major threat and severity patterns. </a:t>
            </a:r>
          </a:p>
          <a:p>
            <a:pPr lvl="0"/>
            <a:r>
              <a:rPr lang="en-IN" sz="2000" dirty="0"/>
              <a:t>Identified geographical risk areas. </a:t>
            </a:r>
          </a:p>
          <a:p>
            <a:pPr lvl="0"/>
            <a:r>
              <a:rPr lang="en-IN" sz="2000" dirty="0" err="1"/>
              <a:t>Analyzed</a:t>
            </a:r>
            <a:r>
              <a:rPr lang="en-IN" sz="2000" dirty="0"/>
              <a:t> incident trends and response performance. </a:t>
            </a:r>
          </a:p>
          <a:p>
            <a:pPr lvl="0"/>
            <a:r>
              <a:rPr lang="en-IN" sz="2000" dirty="0"/>
              <a:t>Identified operational vulnerabilities. </a:t>
            </a:r>
          </a:p>
          <a:p>
            <a:pPr lvl="0"/>
            <a:r>
              <a:rPr lang="en-IN" sz="2000" dirty="0"/>
              <a:t>Assessed current security risks. </a:t>
            </a:r>
          </a:p>
          <a:p>
            <a:pPr lvl="0"/>
            <a:r>
              <a:rPr lang="en-IN" sz="2000" dirty="0"/>
              <a:t>Added predictive risk analysis. </a:t>
            </a:r>
          </a:p>
          <a:p>
            <a:pPr lvl="0"/>
            <a:r>
              <a:rPr lang="en-IN" sz="2000" dirty="0"/>
              <a:t>Identified potential high-risk zones. </a:t>
            </a:r>
          </a:p>
          <a:p>
            <a:pPr lvl="0"/>
            <a:r>
              <a:rPr lang="en-IN" sz="2000" dirty="0"/>
              <a:t>Created executive decision-support dashboards.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40123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B33354-5302-409E-90BF-4E7A98AFB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7C62D7-4A07-7D7A-DFD2-E64620DAA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165014"/>
            <a:ext cx="3796306" cy="4666206"/>
          </a:xfrm>
        </p:spPr>
        <p:txBody>
          <a:bodyPr anchor="ctr">
            <a:normAutofit/>
          </a:bodyPr>
          <a:lstStyle/>
          <a:p>
            <a:r>
              <a:rPr lang="en-IN" sz="4800" b="1"/>
              <a:t>Conclusion</a:t>
            </a:r>
            <a:br>
              <a:rPr lang="en-IN" sz="4800" b="1"/>
            </a:br>
            <a:endParaRPr lang="en-IN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57D23-55FA-D47F-5FF9-33F2D6944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0" y="1165014"/>
            <a:ext cx="5625253" cy="4666206"/>
          </a:xfrm>
        </p:spPr>
        <p:txBody>
          <a:bodyPr anchor="ctr">
            <a:normAutofit/>
          </a:bodyPr>
          <a:lstStyle/>
          <a:p>
            <a:pPr lvl="0"/>
            <a:r>
              <a:rPr lang="en-IN" sz="2000" dirty="0"/>
              <a:t>Our project provides a complete view of cybersecurity incidents and risks. </a:t>
            </a:r>
          </a:p>
          <a:p>
            <a:pPr lvl="0"/>
            <a:r>
              <a:rPr lang="en-IN" sz="2000" dirty="0"/>
              <a:t>We </a:t>
            </a:r>
            <a:r>
              <a:rPr lang="en-IN" sz="2000" dirty="0" err="1"/>
              <a:t>analyzed</a:t>
            </a:r>
            <a:r>
              <a:rPr lang="en-IN" sz="2000" dirty="0"/>
              <a:t> </a:t>
            </a:r>
            <a:r>
              <a:rPr lang="en-IN" sz="2000" b="1" dirty="0"/>
              <a:t>threats, severity, locations, trends and response performance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We identified </a:t>
            </a:r>
            <a:r>
              <a:rPr lang="en-IN" sz="2000" b="1" dirty="0"/>
              <a:t>current security risks and operational vulnerabilities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Predictive analysis helped identify </a:t>
            </a:r>
            <a:r>
              <a:rPr lang="en-IN" sz="2000" b="1" dirty="0"/>
              <a:t>potential future risks and high-risk areas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The executive dashboard provides </a:t>
            </a:r>
            <a:r>
              <a:rPr lang="en-IN" sz="2000" b="1" dirty="0"/>
              <a:t>important insights for better security decisions</a:t>
            </a:r>
            <a:r>
              <a:rPr lang="en-IN" sz="2000" dirty="0"/>
              <a:t>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06672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8A314-98AF-C7B7-605A-FA674F6BB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1220"/>
            <a:ext cx="10515600" cy="12680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/>
              <a:t>THANK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305213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518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Cyber Threat Analytics Platform with Incident Visualization System</vt:lpstr>
      <vt:lpstr>Project Overview </vt:lpstr>
      <vt:lpstr>Data &amp; Technologies </vt:lpstr>
      <vt:lpstr>Project Methodology </vt:lpstr>
      <vt:lpstr>Milestone 1 – Threat Classification &amp; Severity Analytics </vt:lpstr>
      <vt:lpstr>Milestone 2 – Geospatial Intelligence</vt:lpstr>
      <vt:lpstr>Milestone 3 – Temporal &amp; Incident Response Analytics</vt:lpstr>
      <vt:lpstr>Milestone 4 – Security Risk Assessment</vt:lpstr>
      <vt:lpstr>Predictive Intelligence &amp; Executive Analytics</vt:lpstr>
      <vt:lpstr>PowerPoint Presentation</vt:lpstr>
      <vt:lpstr>Key Outcomes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Pavani</dc:creator>
  <cp:lastModifiedBy>M Pavani</cp:lastModifiedBy>
  <cp:revision>1</cp:revision>
  <dcterms:created xsi:type="dcterms:W3CDTF">2026-08-20T13:45:41Z</dcterms:created>
  <dcterms:modified xsi:type="dcterms:W3CDTF">2026-08-20T14:59:47Z</dcterms:modified>
</cp:coreProperties>
</file>